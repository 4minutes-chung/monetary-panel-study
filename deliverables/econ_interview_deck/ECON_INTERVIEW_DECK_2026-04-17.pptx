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Inflation coefficient</c:v>
                </c:pt>
              </c:strCache>
            </c:strRef>
          </c:tx>
          <c:spPr>
            <a:solidFill>
              <a:srgbClr val="2D6A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FE baseline</c:v>
                  </c:pt>
                  <c:pt idx="1">
                    <c:v>IV external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0.5706189482078189</c:v>
                </c:pt>
                <c:pt idx="1">
                  <c:v>1.0326539327021749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GDP-growth coefficient</c:v>
                </c:pt>
              </c:strCache>
            </c:strRef>
          </c:tx>
          <c:spPr>
            <a:solidFill>
              <a:srgbClr val="E07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FE baseline</c:v>
                  </c:pt>
                  <c:pt idx="1">
                    <c:v>IV external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-0.007960530669723577</c:v>
                </c:pt>
                <c:pt idx="1">
                  <c:v>-0.11956473728315942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FE3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Estimated coefficient on money growth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V2 Closeout: Money Growth, Inflation, and Growth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9E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Interview Deck | 5 Slides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Question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02A43"/>
                </a:solidFill>
              </a:rPr>
              <a:t>Across countries, how strongly is money growth linked to inflation and GDP growth?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10927080" cy="1920240"/>
          </a:xfrm>
          <a:prstGeom prst="roundRect">
            <a:avLst>
              <a:gd name="adj" fmla="val 3333"/>
            </a:avLst>
          </a:prstGeom>
          <a:solidFill>
            <a:srgbClr val="EAF2FB"/>
          </a:solidFill>
          <a:ln w="12700">
            <a:solidFill>
              <a:srgbClr val="BBD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786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One-sentence closeout claim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999232"/>
            <a:ext cx="102412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102A43"/>
                </a:solidFill>
              </a:rPr>
              <a:t>Inflation association is strong and policy-relevant, GDP effects stay weak, and first-stage strength remains modest; this is a disciplined associational portfolio result, not a final causal elasticity.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61996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34E68"/>
                </a:solidFill>
              </a:rPr>
              <a:t>Status: Closed (Phase Complete, Next Phase Optional)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and Empirical Design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9E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V2 frozen evidence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941832"/>
            <a:ext cx="1115568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3657600" cy="448056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17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Panel Snapshot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31546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02A43"/>
                </a:solidFill>
              </a:rPr>
              <a:t>Countries: 163
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02A43"/>
                </a:solidFill>
              </a:rPr>
              <a:t>Years: 1991-2020
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02A43"/>
                </a:solidFill>
              </a:rPr>
              <a:t>Rows: 4,292
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02A43"/>
                </a:solidFill>
              </a:rPr>
              <a:t>Duplicate country-year rows: 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17720" y="11887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417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Methods Used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847088"/>
            <a:ext cx="635508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02A43"/>
                </a:solidFill>
              </a:rPr>
              <a:t>1. TWFE baseline and restricted-controls models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02A43"/>
                </a:solidFill>
              </a:rPr>
              <a:t>2. IV-TWFE with lag and external instruments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02A43"/>
                </a:solidFill>
              </a:rPr>
              <a:t>3. LP-IV short-run horizons for inflation (h=0..3)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02A43"/>
                </a:solidFill>
              </a:rPr>
              <a:t>4. GDP kept static at h=0 by design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02A43"/>
                </a:solidFill>
              </a:rPr>
              <a:t>5. Audit-gate logic with explicit weak-IV caveat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58978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86581"/>
                </a:solidFill>
              </a:rPr>
              <a:t>Objective: evidence quality &gt; result hunting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Results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9E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Inflation robust, GDP weak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941832"/>
            <a:ext cx="1115568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685800" y="1298448"/>
          <a:ext cx="62179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223760" y="1298448"/>
            <a:ext cx="4343400" cy="438912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0" y="1554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Interpretation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98080" y="1920240"/>
            <a:ext cx="37947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A43"/>
                </a:solidFill>
              </a:rPr>
              <a:t>Inflation: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A43"/>
                </a:solidFill>
              </a:rPr>
              <a:t>- Positive across major specs.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A43"/>
                </a:solidFill>
              </a:rPr>
              <a:t>- Significant on primary LP-IV horizons: 4.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A43"/>
                </a:solidFill>
              </a:rPr>
              <a:t>GDP growth: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A43"/>
                </a:solidFill>
              </a:rPr>
              <a:t>- Effects remain weak.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A43"/>
                </a:solidFill>
              </a:rPr>
              <a:t>- Significant primary LP-IV horizons: 0.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A43"/>
                </a:solidFill>
              </a:rPr>
              <a:t>IV quality: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A43"/>
                </a:solidFill>
              </a:rPr>
              <a:t>- Preferred first-stage stat: 4.22 (chi2(1)).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 Implications and Claim Boundary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9E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over-claiming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941832"/>
            <a:ext cx="1115568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34440"/>
            <a:ext cx="5349240" cy="4480560"/>
          </a:xfrm>
          <a:prstGeom prst="roundRect">
            <a:avLst>
              <a:gd name="adj" fmla="val 1020"/>
            </a:avLst>
          </a:prstGeom>
          <a:solidFill>
            <a:srgbClr val="E9F7EF"/>
          </a:solidFill>
          <a:ln w="12700">
            <a:solidFill>
              <a:srgbClr val="B8E0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1790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631"/>
                </a:solidFill>
              </a:rPr>
              <a:t>What policy teams can use now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892808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1D3C2E"/>
                </a:solidFill>
              </a:rPr>
              <a:t>1. Use money growth as an inflation-risk signal.</a:t>
            </a:r>
            <a:endParaRPr lang="en-US" sz="14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1D3C2E"/>
                </a:solidFill>
              </a:rPr>
              <a:t>2. Do not rely on this evidence to promise GDP acceleration.</a:t>
            </a:r>
            <a:endParaRPr lang="en-US" sz="14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1D3C2E"/>
                </a:solidFill>
              </a:rPr>
              <a:t>3. Combine cross-country estimates with country institutions and regime context.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234440"/>
            <a:ext cx="5303520" cy="4480560"/>
          </a:xfrm>
          <a:prstGeom prst="roundRect">
            <a:avLst>
              <a:gd name="adj" fmla="val 1020"/>
            </a:avLst>
          </a:prstGeom>
          <a:solidFill>
            <a:srgbClr val="FDEBEC"/>
          </a:solidFill>
          <a:ln w="12700">
            <a:solidFill>
              <a:srgbClr val="F2C1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51790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1C2B"/>
                </a:solidFill>
              </a:rPr>
              <a:t>What this project does not claim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1892808"/>
            <a:ext cx="470916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5B1A1A"/>
                </a:solidFill>
              </a:rPr>
              <a:t>- Not a universal causal elasticity.</a:t>
            </a:r>
            <a:endParaRPr lang="en-US" sz="14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5B1A1A"/>
                </a:solidFill>
              </a:rPr>
              <a:t>- Not policy certainty for every country and episode.</a:t>
            </a:r>
            <a:endParaRPr lang="en-US" sz="14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5B1A1A"/>
                </a:solidFill>
              </a:rPr>
              <a:t>- Not sufficient alone for growth-targeting strategy.</a:t>
            </a:r>
            <a:endParaRPr lang="en-US" sz="1400" dirty="0"/>
          </a:p>
          <a:p>
            <a:pPr indent="0" marL="0">
              <a:lnSpc>
                <a:spcPct val="114000"/>
              </a:lnSpc>
              <a:buNone/>
            </a:pPr>
            <a:endParaRPr lang="en-US" sz="14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5B1A1A"/>
                </a:solidFill>
              </a:rPr>
              <a:t>Reason: first-stage strength remains limited and identification is still the bottleneck.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Research Agenda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9E2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moving to optional Phase 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941832"/>
            <a:ext cx="11155680" cy="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325880"/>
            <a:ext cx="10972800" cy="3611880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6093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Identification-first roadmap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1993392"/>
            <a:ext cx="525780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A43"/>
                </a:solidFill>
              </a:rPr>
              <a:t>1. Event/regime shocks (monetary reforms, mandate shifts).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A43"/>
                </a:solidFill>
              </a:rPr>
              <a:t>2. Heterogeneity by inflation regime and crisis state.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A43"/>
                </a:solidFill>
              </a:rPr>
              <a:t>3. Institution-aware exclusion logic.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02A43"/>
                </a:solidFill>
              </a:rPr>
              <a:t>4. Fewer specs, stronger design, tighter causal scope.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0" cy="2743200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60934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Closeout recommendation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2084832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6E4F"/>
                </a:solidFill>
              </a:rPr>
              <a:t>Closed (Phase Complete, Next Phase Optional)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629400" y="2816352"/>
            <a:ext cx="4526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34E68"/>
                </a:solidFill>
              </a:rPr>
              <a:t>Portfolio message: disciplined econometrics, clear claim boundary, and a practical next-step agenda.</a:t>
            </a:r>
            <a:endParaRPr lang="en-US" sz="1300" dirty="0"/>
          </a:p>
          <a:p>
            <a:pPr indent="0" marL="0">
              <a:lnSpc>
                <a:spcPct val="114000"/>
              </a:lnSpc>
              <a:buNone/>
            </a:pPr>
            <a:endParaRPr lang="en-US" sz="13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34E68"/>
                </a:solidFill>
              </a:rPr>
              <a:t>Primary first-stage mean (LP): 4.54.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619048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27D98"/>
                </a:solidFill>
              </a:rPr>
              <a:t>Date: 2026-04-17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Econometrics Side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Cross-Country Money Growth Project - V2 Closeout</dc:title>
  <dc:subject>Money Growth, Inflation, and GDP Growth</dc:subject>
  <dc:creator>Steven Chung</dc:creator>
  <cp:lastModifiedBy>Steven Chung</cp:lastModifiedBy>
  <cp:revision>1</cp:revision>
  <dcterms:created xsi:type="dcterms:W3CDTF">2026-04-18T03:10:59Z</dcterms:created>
  <dcterms:modified xsi:type="dcterms:W3CDTF">2026-04-18T03:10:59Z</dcterms:modified>
</cp:coreProperties>
</file>